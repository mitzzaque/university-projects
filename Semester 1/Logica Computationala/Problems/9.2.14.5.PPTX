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5697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876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468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091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107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173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345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770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3836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660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8498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4341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8072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2875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2374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014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670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A7436FF-6564-40CA-B71E-F3C9EC45BAC4}" type="datetimeFigureOut">
              <a:rPr lang="ro-RO" smtClean="0"/>
              <a:t>03.12.2020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4C836-44D5-4A43-B8B9-7DBACBEB6C2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9547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A8F8-8E1C-4144-ACC6-199BE7F2E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Tem</a:t>
            </a:r>
            <a:r>
              <a:rPr lang="ro-RO" dirty="0"/>
              <a:t>ă seminar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AC5E7-D8E0-48CB-825A-3553EB2B9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Morați Robert-Mihai</a:t>
            </a:r>
          </a:p>
        </p:txBody>
      </p:sp>
    </p:spTree>
    <p:extLst>
      <p:ext uri="{BB962C8B-B14F-4D97-AF65-F5344CB8AC3E}">
        <p14:creationId xmlns:p14="http://schemas.microsoft.com/office/powerpoint/2010/main" val="354491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4409-9F45-4D7B-A5D1-DF5074BA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9.2.</a:t>
            </a:r>
            <a:r>
              <a:rPr lang="en-US" dirty="0"/>
              <a:t>1</a:t>
            </a:r>
            <a:r>
              <a:rPr lang="ro-RO" dirty="0"/>
              <a:t>4.5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BE38-AF05-4B28-9D90-F1A2071DB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80" y="2052918"/>
            <a:ext cx="11245516" cy="4195481"/>
          </a:xfrm>
        </p:spPr>
        <p:txBody>
          <a:bodyPr/>
          <a:lstStyle/>
          <a:p>
            <a:r>
              <a:rPr lang="ro-RO" dirty="0"/>
              <a:t>Utilizând metoda tabelelor semantice (construind arborele binar), verificaţi dacă au loc:</a:t>
            </a:r>
            <a:endParaRPr lang="en-US" dirty="0"/>
          </a:p>
          <a:p>
            <a:r>
              <a:rPr lang="ro-RO" dirty="0"/>
              <a:t>U=├(</a:t>
            </a:r>
            <a:r>
              <a:rPr lang="ro-RO" strike="sngStrike" dirty="0"/>
              <a:t>V</a:t>
            </a:r>
            <a:r>
              <a:rPr lang="ro-RO" dirty="0"/>
              <a:t>y)(</a:t>
            </a:r>
            <a:r>
              <a:rPr lang="ro-RO" strike="sngStrike" dirty="0"/>
              <a:t>V</a:t>
            </a:r>
            <a:r>
              <a:rPr lang="ro-RO" dirty="0"/>
              <a:t>x)P(x,y)↔</a:t>
            </a:r>
            <a:r>
              <a:rPr lang="ro-RO" strike="sngStrike" dirty="0"/>
              <a:t>(V</a:t>
            </a:r>
            <a:r>
              <a:rPr lang="ro-RO" dirty="0"/>
              <a:t>x)(</a:t>
            </a:r>
            <a:r>
              <a:rPr lang="ro-RO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dirty="0"/>
              <a:t>y)P(x,y)</a:t>
            </a:r>
          </a:p>
          <a:p>
            <a:endParaRPr lang="ro-RO" dirty="0"/>
          </a:p>
          <a:p>
            <a:r>
              <a:rPr lang="ro-RO" dirty="0"/>
              <a:t>Negăm formula</a:t>
            </a:r>
          </a:p>
          <a:p>
            <a:pPr marL="914400" lvl="2" indent="0">
              <a:buNone/>
            </a:pPr>
            <a:r>
              <a:rPr lang="ro-RO" sz="1800" dirty="0"/>
              <a:t>⌐ U = ⌐ ((</a:t>
            </a:r>
            <a:r>
              <a:rPr lang="ro-RO" sz="1800" strike="sngStrike" dirty="0"/>
              <a:t>V</a:t>
            </a:r>
            <a:r>
              <a:rPr lang="ro-RO" sz="1800" dirty="0"/>
              <a:t>y)(</a:t>
            </a:r>
            <a:r>
              <a:rPr lang="ro-RO" sz="1800" strike="sngStrike" dirty="0"/>
              <a:t>V</a:t>
            </a:r>
            <a:r>
              <a:rPr lang="ro-RO" sz="1800" dirty="0"/>
              <a:t>x)P(x,y)↔ (</a:t>
            </a:r>
            <a:r>
              <a:rPr lang="ro-RO" sz="1800" strike="sngStrike" dirty="0"/>
              <a:t>V</a:t>
            </a:r>
            <a:r>
              <a:rPr lang="ro-RO" sz="1800" dirty="0"/>
              <a:t>x)(</a:t>
            </a:r>
            <a:r>
              <a:rPr lang="ro-RO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800" dirty="0"/>
              <a:t>y)P(x,y))</a:t>
            </a:r>
          </a:p>
          <a:p>
            <a:pPr marL="914400" lvl="2" indent="0">
              <a:buNone/>
            </a:pPr>
            <a:endParaRPr lang="ro-RO" dirty="0"/>
          </a:p>
          <a:p>
            <a:r>
              <a:rPr lang="ro-RO" dirty="0"/>
              <a:t>Înlocuim </a:t>
            </a:r>
            <a:r>
              <a:rPr lang="en-US" dirty="0"/>
              <a:t> </a:t>
            </a:r>
            <a:r>
              <a:rPr lang="en-US" dirty="0" err="1"/>
              <a:t>conectiva</a:t>
            </a:r>
            <a:r>
              <a:rPr lang="en-US" dirty="0"/>
              <a:t> </a:t>
            </a:r>
            <a:r>
              <a:rPr lang="ro-RO" dirty="0"/>
              <a:t> ↔ din formulă</a:t>
            </a:r>
            <a:endParaRPr lang="en-US" dirty="0"/>
          </a:p>
          <a:p>
            <a:pPr lvl="2"/>
            <a:r>
              <a:rPr lang="ro-RO" sz="1800" dirty="0"/>
              <a:t>⌐ (</a:t>
            </a:r>
            <a:r>
              <a:rPr lang="en-US" sz="1800" dirty="0"/>
              <a:t>(</a:t>
            </a:r>
            <a:r>
              <a:rPr lang="ro-RO" sz="1800" dirty="0"/>
              <a:t>⌐(</a:t>
            </a:r>
            <a:r>
              <a:rPr lang="ro-RO" sz="1800" strike="sngStrike" dirty="0"/>
              <a:t>V</a:t>
            </a:r>
            <a:r>
              <a:rPr lang="ro-RO" sz="1800" dirty="0"/>
              <a:t>y)(</a:t>
            </a:r>
            <a:r>
              <a:rPr lang="ro-RO" sz="1800" strike="sngStrike" dirty="0"/>
              <a:t>V</a:t>
            </a:r>
            <a:r>
              <a:rPr lang="ro-RO" sz="1800" dirty="0"/>
              <a:t>x)P(x,y)</a:t>
            </a:r>
            <a:r>
              <a:rPr lang="en-US" sz="1800" dirty="0"/>
              <a:t>V</a:t>
            </a:r>
            <a:r>
              <a:rPr lang="ro-RO" sz="1800" dirty="0"/>
              <a:t> (</a:t>
            </a:r>
            <a:r>
              <a:rPr lang="ro-RO" sz="1800" strike="sngStrike" dirty="0"/>
              <a:t>V</a:t>
            </a:r>
            <a:r>
              <a:rPr lang="ro-RO" sz="1800" dirty="0"/>
              <a:t>x)(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800" dirty="0"/>
              <a:t>y)P(x,y))</a:t>
            </a:r>
            <a:r>
              <a:rPr lang="ro-RO" sz="2000" dirty="0"/>
              <a:t>л</a:t>
            </a:r>
            <a:r>
              <a:rPr lang="en-US" sz="1800" dirty="0"/>
              <a:t>(</a:t>
            </a:r>
            <a:r>
              <a:rPr lang="ro-RO" sz="1800" dirty="0"/>
              <a:t>⌐(</a:t>
            </a:r>
            <a:r>
              <a:rPr lang="ro-RO" sz="1800" strike="sngStrike" dirty="0"/>
              <a:t>V</a:t>
            </a:r>
            <a:r>
              <a:rPr lang="ro-RO" sz="1800" dirty="0"/>
              <a:t>x)(</a:t>
            </a:r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800" dirty="0"/>
              <a:t>y)P(x,y)</a:t>
            </a:r>
            <a:r>
              <a:rPr lang="en-US" sz="1800" dirty="0"/>
              <a:t>V</a:t>
            </a:r>
            <a:r>
              <a:rPr lang="ro-RO" sz="1800" dirty="0"/>
              <a:t>(</a:t>
            </a:r>
            <a:r>
              <a:rPr lang="ro-RO" sz="1800" strike="sngStrike" dirty="0"/>
              <a:t>V</a:t>
            </a:r>
            <a:r>
              <a:rPr lang="ro-RO" sz="1800" dirty="0"/>
              <a:t>y)(</a:t>
            </a:r>
            <a:r>
              <a:rPr lang="ro-RO" sz="1800" strike="sngStrike" dirty="0"/>
              <a:t>V</a:t>
            </a:r>
            <a:r>
              <a:rPr lang="ro-RO" sz="1800" dirty="0"/>
              <a:t>x)P(x,y))</a:t>
            </a:r>
            <a:r>
              <a:rPr lang="en-US" sz="1800" dirty="0"/>
              <a:t>)</a:t>
            </a:r>
          </a:p>
          <a:p>
            <a:pPr lvl="2"/>
            <a:endParaRPr lang="ro-RO" dirty="0"/>
          </a:p>
          <a:p>
            <a:endParaRPr lang="ro-RO" dirty="0"/>
          </a:p>
          <a:p>
            <a:pPr marL="914400" lvl="2" indent="0">
              <a:buNone/>
            </a:pPr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369993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C18F542-1E26-48F7-AD48-142CD5CC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545887" cy="1400530"/>
          </a:xfrm>
        </p:spPr>
        <p:txBody>
          <a:bodyPr/>
          <a:lstStyle/>
          <a:p>
            <a:r>
              <a:rPr lang="en-US" sz="4400" dirty="0"/>
              <a:t> </a:t>
            </a:r>
            <a:r>
              <a:rPr lang="ro-RO" sz="2400" dirty="0"/>
              <a:t>⌐ (</a:t>
            </a:r>
            <a:r>
              <a:rPr lang="en-US" sz="2400" dirty="0"/>
              <a:t>(</a:t>
            </a:r>
            <a:r>
              <a:rPr lang="ro-RO" sz="2400" dirty="0"/>
              <a:t>⌐(</a:t>
            </a:r>
            <a:r>
              <a:rPr lang="ro-RO" sz="2400" strike="sngStrike" dirty="0"/>
              <a:t>V</a:t>
            </a:r>
            <a:r>
              <a:rPr lang="ro-RO" sz="2400" dirty="0"/>
              <a:t>y)(</a:t>
            </a:r>
            <a:r>
              <a:rPr lang="ro-RO" sz="2400" strike="sngStrike" dirty="0"/>
              <a:t>V</a:t>
            </a:r>
            <a:r>
              <a:rPr lang="ro-RO" sz="2400" dirty="0"/>
              <a:t>x)P(x,y)</a:t>
            </a:r>
            <a:r>
              <a:rPr lang="en-US" sz="2400" dirty="0"/>
              <a:t>V</a:t>
            </a:r>
            <a:r>
              <a:rPr lang="ro-RO" sz="2400" dirty="0"/>
              <a:t> (</a:t>
            </a:r>
            <a:r>
              <a:rPr lang="ro-RO" sz="2400" strike="sngStrike" dirty="0"/>
              <a:t>V</a:t>
            </a:r>
            <a:r>
              <a:rPr lang="ro-RO" sz="2400" dirty="0"/>
              <a:t>x)(</a:t>
            </a:r>
            <a:r>
              <a:rPr lang="ro-R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400" dirty="0"/>
              <a:t>y)P(x,y))</a:t>
            </a:r>
            <a:r>
              <a:rPr lang="ro-RO" sz="2800" dirty="0"/>
              <a:t>л</a:t>
            </a:r>
            <a:r>
              <a:rPr lang="en-US" sz="2400" dirty="0"/>
              <a:t>(</a:t>
            </a:r>
            <a:r>
              <a:rPr lang="ro-RO" sz="2400" dirty="0"/>
              <a:t>⌐(</a:t>
            </a:r>
            <a:r>
              <a:rPr lang="ro-RO" sz="2400" strike="sngStrike" dirty="0"/>
              <a:t>V</a:t>
            </a:r>
            <a:r>
              <a:rPr lang="ro-RO" sz="2400" dirty="0"/>
              <a:t>x)(</a:t>
            </a:r>
            <a:r>
              <a:rPr lang="ro-R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400" dirty="0"/>
              <a:t>y)P(x,y)</a:t>
            </a:r>
            <a:r>
              <a:rPr lang="en-US" sz="2400" dirty="0"/>
              <a:t>V</a:t>
            </a:r>
            <a:r>
              <a:rPr lang="ro-RO" sz="2400" dirty="0"/>
              <a:t>(</a:t>
            </a:r>
            <a:r>
              <a:rPr lang="ro-RO" sz="2400" strike="sngStrike" dirty="0"/>
              <a:t>V</a:t>
            </a:r>
            <a:r>
              <a:rPr lang="ro-RO" sz="2400" dirty="0"/>
              <a:t>y)(</a:t>
            </a:r>
            <a:r>
              <a:rPr lang="ro-RO" sz="2400" strike="sngStrike" dirty="0"/>
              <a:t>V</a:t>
            </a:r>
            <a:r>
              <a:rPr lang="ro-RO" sz="2400" dirty="0"/>
              <a:t>x)P(x,y))</a:t>
            </a:r>
            <a:r>
              <a:rPr lang="en-US" sz="2400" dirty="0"/>
              <a:t>) (1)</a:t>
            </a:r>
            <a:br>
              <a:rPr lang="en-US" sz="2400" dirty="0"/>
            </a:br>
            <a:r>
              <a:rPr lang="ro-RO" sz="2400" dirty="0"/>
              <a:t>													</a:t>
            </a:r>
            <a:r>
              <a:rPr lang="en-US" sz="1050" dirty="0"/>
              <a:t> </a:t>
            </a:r>
            <a:r>
              <a:rPr lang="el-GR" sz="2000" dirty="0"/>
              <a:t>β</a:t>
            </a:r>
            <a:r>
              <a:rPr lang="en-US" sz="2000" dirty="0"/>
              <a:t>(1) </a:t>
            </a:r>
            <a:r>
              <a:rPr lang="ro-RO" sz="2400" dirty="0"/>
              <a:t>			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9549D-CE47-4621-A9C3-FC4FB90591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dirty="0"/>
              <a:t>   	</a:t>
            </a:r>
            <a:r>
              <a:rPr lang="ro-RO" sz="2000" dirty="0"/>
              <a:t> 	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y)(</a:t>
            </a:r>
            <a:r>
              <a:rPr lang="ro-RO" sz="2500" strike="sngStrike" dirty="0"/>
              <a:t>V</a:t>
            </a:r>
            <a:r>
              <a:rPr lang="ro-RO" sz="2500" dirty="0"/>
              <a:t>x)P(x,y)л ⌐</a:t>
            </a:r>
            <a:r>
              <a:rPr lang="en-US" sz="2500" dirty="0"/>
              <a:t>(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x)(</a:t>
            </a:r>
            <a:r>
              <a:rPr lang="ro-RO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500" dirty="0"/>
              <a:t>y)P(x,y)</a:t>
            </a:r>
            <a:r>
              <a:rPr lang="en-US" sz="2500" dirty="0"/>
              <a:t>) (2) </a:t>
            </a:r>
            <a:br>
              <a:rPr lang="en-US" sz="2000" dirty="0"/>
            </a:br>
            <a:r>
              <a:rPr lang="en-US" sz="2000" dirty="0"/>
              <a:t>								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					 </a:t>
            </a:r>
            <a:r>
              <a:rPr lang="ro-RO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sz="2900" dirty="0"/>
              <a:t>(2)</a:t>
            </a:r>
          </a:p>
          <a:p>
            <a:pPr marL="0" indent="0">
              <a:buNone/>
            </a:pPr>
            <a:r>
              <a:rPr lang="ro-RO" dirty="0"/>
              <a:t>											 	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y)(</a:t>
            </a:r>
            <a:r>
              <a:rPr lang="ro-RO" sz="2500" strike="sngStrike" dirty="0"/>
              <a:t>V</a:t>
            </a:r>
            <a:r>
              <a:rPr lang="ro-RO" sz="2500" dirty="0"/>
              <a:t>x)P(x,y</a:t>
            </a:r>
            <a:r>
              <a:rPr lang="en-US" sz="2500" dirty="0"/>
              <a:t>)(4</a:t>
            </a:r>
            <a:r>
              <a:rPr lang="en-US" sz="2900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ro-RO" sz="2000" dirty="0"/>
              <a:t> </a:t>
            </a:r>
            <a:r>
              <a:rPr lang="en-US" sz="2000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o-RO" sz="2000" dirty="0"/>
              <a:t>			</a:t>
            </a:r>
            <a:r>
              <a:rPr lang="ro-RO" sz="2500" dirty="0"/>
              <a:t>⌐</a:t>
            </a:r>
            <a:r>
              <a:rPr lang="en-US" sz="2500" dirty="0"/>
              <a:t>(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x)(</a:t>
            </a:r>
            <a:r>
              <a:rPr lang="ro-RO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500" dirty="0"/>
              <a:t>y)P(x,y)</a:t>
            </a:r>
            <a:r>
              <a:rPr lang="en-US" sz="2500" dirty="0"/>
              <a:t>) (</a:t>
            </a:r>
            <a:r>
              <a:rPr lang="ro-RO" sz="2500" dirty="0"/>
              <a:t>5</a:t>
            </a:r>
            <a:r>
              <a:rPr lang="en-US" sz="2500" dirty="0"/>
              <a:t>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ro-RO" sz="2000" dirty="0"/>
              <a:t> </a:t>
            </a:r>
            <a:r>
              <a:rPr lang="en-US" sz="2000" dirty="0"/>
              <a:t>								</a:t>
            </a:r>
            <a:r>
              <a:rPr lang="ro-RO" sz="2000" dirty="0"/>
              <a:t>			    </a:t>
            </a:r>
            <a:r>
              <a:rPr lang="en-US" sz="2000" dirty="0"/>
              <a:t> δ(</a:t>
            </a:r>
            <a:r>
              <a:rPr lang="ro-RO" sz="2000" dirty="0"/>
              <a:t>5</a:t>
            </a:r>
            <a:r>
              <a:rPr lang="en-US" sz="2000" dirty="0"/>
              <a:t>), a constant</a:t>
            </a:r>
            <a:r>
              <a:rPr lang="ro-RO" sz="2000" dirty="0"/>
              <a:t>ă nou introdusă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ro-RO" sz="2000" dirty="0"/>
              <a:t>	</a:t>
            </a:r>
            <a:r>
              <a:rPr lang="ro-RO" sz="2500" dirty="0"/>
              <a:t>⌐ (</a:t>
            </a:r>
            <a:r>
              <a:rPr lang="ro-RO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500" dirty="0"/>
              <a:t>y)P(a,y) (6)  </a:t>
            </a:r>
            <a:r>
              <a:rPr lang="en-US" sz="2000" dirty="0"/>
              <a:t>	</a:t>
            </a:r>
            <a:endParaRPr lang="ro-RO" sz="2000" dirty="0"/>
          </a:p>
          <a:p>
            <a:pPr marL="0" indent="0">
              <a:buNone/>
            </a:pPr>
            <a:r>
              <a:rPr lang="ro-RO" dirty="0"/>
              <a:t>		 </a:t>
            </a:r>
            <a:r>
              <a:rPr lang="en-US" sz="2000" dirty="0"/>
              <a:t>				</a:t>
            </a:r>
            <a:endParaRPr lang="ro-RO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A3780958-9A7A-47A3-BBE1-F33F7D98D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8151" y="1930850"/>
            <a:ext cx="5726084" cy="4227834"/>
          </a:xfrm>
        </p:spPr>
        <p:txBody>
          <a:bodyPr>
            <a:normAutofit fontScale="55000" lnSpcReduction="20000"/>
          </a:bodyPr>
          <a:lstStyle/>
          <a:p>
            <a:pPr marL="1371600" lvl="3" indent="0">
              <a:buNone/>
            </a:pPr>
            <a:r>
              <a:rPr lang="ro-RO" sz="2800" dirty="0"/>
              <a:t>(</a:t>
            </a:r>
            <a:r>
              <a:rPr lang="ro-RO" sz="2800" strike="sngStrike" dirty="0"/>
              <a:t>V</a:t>
            </a:r>
            <a:r>
              <a:rPr lang="ro-RO" sz="2800" dirty="0"/>
              <a:t>x)(</a:t>
            </a:r>
            <a:r>
              <a:rPr lang="ro-RO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800" dirty="0"/>
              <a:t>y)P(x,y)л⌐</a:t>
            </a:r>
            <a:r>
              <a:rPr lang="en-US" sz="2800" dirty="0"/>
              <a:t>(</a:t>
            </a:r>
            <a:r>
              <a:rPr lang="ro-RO" sz="2800" dirty="0"/>
              <a:t>(</a:t>
            </a:r>
            <a:r>
              <a:rPr lang="ro-RO" sz="2800" strike="sngStrike" dirty="0"/>
              <a:t>V</a:t>
            </a:r>
            <a:r>
              <a:rPr lang="ro-RO" sz="2800" dirty="0"/>
              <a:t>y)(</a:t>
            </a:r>
            <a:r>
              <a:rPr lang="ro-RO" sz="2800" strike="sngStrike" dirty="0"/>
              <a:t>V</a:t>
            </a:r>
            <a:r>
              <a:rPr lang="ro-RO" sz="2800" dirty="0"/>
              <a:t>x)P(x,y))</a:t>
            </a:r>
            <a:r>
              <a:rPr lang="en-US" sz="2800" dirty="0"/>
              <a:t>  (3)</a:t>
            </a:r>
            <a:endParaRPr lang="ro-RO" sz="2800" dirty="0"/>
          </a:p>
          <a:p>
            <a:pPr marL="1371600" lvl="3" indent="0">
              <a:buNone/>
            </a:pPr>
            <a:endParaRPr lang="ro-RO" sz="2800" dirty="0"/>
          </a:p>
          <a:p>
            <a:pPr marL="1371600" lvl="3" indent="0">
              <a:buNone/>
            </a:pPr>
            <a:r>
              <a:rPr lang="ro-RO" sz="2800" dirty="0"/>
              <a:t>			</a:t>
            </a:r>
            <a:r>
              <a:rPr lang="ro-RO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sz="2900" dirty="0"/>
              <a:t>(3</a:t>
            </a:r>
            <a:r>
              <a:rPr lang="ro-RO" sz="2900" dirty="0"/>
              <a:t>)</a:t>
            </a:r>
            <a:endParaRPr lang="ro-RO" sz="3200" dirty="0"/>
          </a:p>
          <a:p>
            <a:pPr marL="1371600" lvl="3" indent="0">
              <a:buNone/>
            </a:pPr>
            <a:r>
              <a:rPr lang="ro-RO" sz="3200" dirty="0"/>
              <a:t>      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x)(</a:t>
            </a:r>
            <a:r>
              <a:rPr lang="ro-RO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2500" dirty="0"/>
              <a:t>y)P(x,y) </a:t>
            </a:r>
            <a:r>
              <a:rPr lang="en-US" sz="2500" dirty="0"/>
              <a:t>(</a:t>
            </a:r>
            <a:r>
              <a:rPr lang="ro-RO" sz="2500" dirty="0"/>
              <a:t>7</a:t>
            </a:r>
            <a:r>
              <a:rPr lang="en-US" sz="2500" dirty="0"/>
              <a:t>)</a:t>
            </a:r>
            <a:endParaRPr lang="ro-RO" sz="2500" dirty="0"/>
          </a:p>
          <a:p>
            <a:pPr marL="1371600" lvl="3" indent="0">
              <a:buNone/>
            </a:pPr>
            <a:endParaRPr lang="ro-RO" sz="2500" dirty="0"/>
          </a:p>
          <a:p>
            <a:pPr marL="1371600" lvl="3" indent="0">
              <a:buNone/>
            </a:pPr>
            <a:endParaRPr lang="ro-RO" sz="2500" dirty="0"/>
          </a:p>
          <a:p>
            <a:pPr marL="1371600" lvl="3" indent="0">
              <a:buNone/>
            </a:pPr>
            <a:endParaRPr lang="ro-RO" sz="2500" dirty="0"/>
          </a:p>
          <a:p>
            <a:pPr marL="1371600" lvl="3" indent="0">
              <a:buNone/>
            </a:pPr>
            <a:r>
              <a:rPr lang="ro-RO" sz="2500" dirty="0"/>
              <a:t>     </a:t>
            </a:r>
            <a:r>
              <a:rPr lang="ro-RO" sz="2800" dirty="0"/>
              <a:t>⌐</a:t>
            </a:r>
            <a:r>
              <a:rPr lang="en-US" sz="2500" dirty="0"/>
              <a:t>(</a:t>
            </a:r>
            <a:r>
              <a:rPr lang="ro-RO" sz="2500" dirty="0"/>
              <a:t>(</a:t>
            </a:r>
            <a:r>
              <a:rPr lang="ro-RO" sz="2500" strike="sngStrike" dirty="0"/>
              <a:t>V</a:t>
            </a:r>
            <a:r>
              <a:rPr lang="ro-RO" sz="2500" dirty="0"/>
              <a:t>y)(</a:t>
            </a:r>
            <a:r>
              <a:rPr lang="ro-RO" sz="2500" strike="sngStrike" dirty="0"/>
              <a:t>V</a:t>
            </a:r>
            <a:r>
              <a:rPr lang="ro-RO" sz="2500" dirty="0"/>
              <a:t>x)P(x,y))</a:t>
            </a:r>
            <a:r>
              <a:rPr lang="en-US" sz="2500" dirty="0"/>
              <a:t> (</a:t>
            </a:r>
            <a:r>
              <a:rPr lang="ro-RO" sz="2500" dirty="0"/>
              <a:t>8</a:t>
            </a:r>
            <a:r>
              <a:rPr lang="en-US" sz="2500" dirty="0"/>
              <a:t>)</a:t>
            </a:r>
            <a:endParaRPr lang="ro-RO" sz="2500" dirty="0"/>
          </a:p>
          <a:p>
            <a:pPr marL="1371600" lvl="3" indent="0">
              <a:buNone/>
            </a:pPr>
            <a:r>
              <a:rPr lang="ro-RO" sz="2500" dirty="0"/>
              <a:t>				</a:t>
            </a:r>
          </a:p>
          <a:p>
            <a:pPr marL="1371600" lvl="3" indent="0">
              <a:buNone/>
            </a:pPr>
            <a:r>
              <a:rPr lang="ro-RO" sz="2500" dirty="0"/>
              <a:t>			</a:t>
            </a:r>
            <a:r>
              <a:rPr lang="en-US" sz="2800" dirty="0"/>
              <a:t> </a:t>
            </a:r>
            <a:r>
              <a:rPr lang="en-US" sz="2200" dirty="0"/>
              <a:t>δ(8), </a:t>
            </a:r>
            <a:r>
              <a:rPr lang="ro-RO" sz="2200" dirty="0"/>
              <a:t>b</a:t>
            </a:r>
            <a:r>
              <a:rPr lang="en-US" sz="2200" dirty="0"/>
              <a:t> constant</a:t>
            </a:r>
            <a:r>
              <a:rPr lang="ro-RO" sz="2200" dirty="0"/>
              <a:t>ă  nou introdusă </a:t>
            </a:r>
          </a:p>
          <a:p>
            <a:pPr marL="1371600" lvl="3" indent="0">
              <a:buNone/>
            </a:pPr>
            <a:endParaRPr lang="ro-RO" sz="2200" dirty="0"/>
          </a:p>
          <a:p>
            <a:pPr marL="1371600" lvl="3" indent="0">
              <a:buNone/>
            </a:pPr>
            <a:r>
              <a:rPr lang="ro-RO" sz="2200" dirty="0"/>
              <a:t>		</a:t>
            </a:r>
            <a:r>
              <a:rPr lang="ro-RO" sz="2400" dirty="0"/>
              <a:t> ⌐ (</a:t>
            </a:r>
            <a:r>
              <a:rPr lang="ro-RO" sz="2400" strike="sngStrike" dirty="0"/>
              <a:t>V</a:t>
            </a:r>
            <a:r>
              <a:rPr lang="ro-RO" sz="2400" dirty="0"/>
              <a:t>x)P(x,b)(9) </a:t>
            </a:r>
            <a:endParaRPr lang="ro-RO" sz="2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91FF06-3FF3-4A64-AC2A-1ACD27F94D58}"/>
              </a:ext>
            </a:extLst>
          </p:cNvPr>
          <p:cNvCxnSpPr>
            <a:cxnSpLocks/>
          </p:cNvCxnSpPr>
          <p:nvPr/>
        </p:nvCxnSpPr>
        <p:spPr>
          <a:xfrm flipH="1">
            <a:off x="5085348" y="1152983"/>
            <a:ext cx="994611" cy="689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0E7827-F7C0-4B18-BBAA-4BDB1ECA1172}"/>
              </a:ext>
            </a:extLst>
          </p:cNvPr>
          <p:cNvCxnSpPr>
            <a:cxnSpLocks/>
          </p:cNvCxnSpPr>
          <p:nvPr/>
        </p:nvCxnSpPr>
        <p:spPr>
          <a:xfrm>
            <a:off x="6112042" y="1152983"/>
            <a:ext cx="1010653" cy="689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A1118C-63C7-42B5-9825-34640F4BCBA9}"/>
              </a:ext>
            </a:extLst>
          </p:cNvPr>
          <p:cNvCxnSpPr/>
          <p:nvPr/>
        </p:nvCxnSpPr>
        <p:spPr>
          <a:xfrm>
            <a:off x="3163178" y="2418036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02E890-071E-4A6D-88B9-61D282BEAF85}"/>
              </a:ext>
            </a:extLst>
          </p:cNvPr>
          <p:cNvCxnSpPr/>
          <p:nvPr/>
        </p:nvCxnSpPr>
        <p:spPr>
          <a:xfrm>
            <a:off x="8607135" y="2260535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08DF88-8155-4A69-8893-CE869ABF71EF}"/>
              </a:ext>
            </a:extLst>
          </p:cNvPr>
          <p:cNvCxnSpPr/>
          <p:nvPr/>
        </p:nvCxnSpPr>
        <p:spPr>
          <a:xfrm>
            <a:off x="3163178" y="3567656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C9A91E-44F7-4863-9FF4-04F07B1462CB}"/>
              </a:ext>
            </a:extLst>
          </p:cNvPr>
          <p:cNvCxnSpPr/>
          <p:nvPr/>
        </p:nvCxnSpPr>
        <p:spPr>
          <a:xfrm>
            <a:off x="8607135" y="3330179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37646A-C102-445B-A28E-DCC2D677AC19}"/>
              </a:ext>
            </a:extLst>
          </p:cNvPr>
          <p:cNvCxnSpPr/>
          <p:nvPr/>
        </p:nvCxnSpPr>
        <p:spPr>
          <a:xfrm>
            <a:off x="3160374" y="4647344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76AFFF-1A76-4DEC-B1E7-9A6E741DCE5E}"/>
              </a:ext>
            </a:extLst>
          </p:cNvPr>
          <p:cNvCxnSpPr/>
          <p:nvPr/>
        </p:nvCxnSpPr>
        <p:spPr>
          <a:xfrm>
            <a:off x="8607135" y="4493231"/>
            <a:ext cx="0" cy="737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47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1FDE9-C261-498F-9DE8-9B05A2875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096000" cy="6857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dirty="0"/>
              <a:t>			</a:t>
            </a:r>
          </a:p>
          <a:p>
            <a:pPr marL="0" indent="0">
              <a:buNone/>
            </a:pPr>
            <a:r>
              <a:rPr lang="ro-RO" dirty="0"/>
              <a:t>			γ(6), a constană existentă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	 </a:t>
            </a:r>
          </a:p>
          <a:p>
            <a:pPr marL="0" indent="0">
              <a:buNone/>
            </a:pPr>
            <a:r>
              <a:rPr lang="ro-RO" dirty="0"/>
              <a:t>		⌐ P(a,a)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	</a:t>
            </a:r>
          </a:p>
          <a:p>
            <a:pPr marL="0" indent="0">
              <a:buNone/>
            </a:pPr>
            <a:r>
              <a:rPr lang="ro-RO" dirty="0"/>
              <a:t>	⌐ (</a:t>
            </a:r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dirty="0"/>
              <a:t>y)P(a,y) (6</a:t>
            </a:r>
            <a:r>
              <a:rPr lang="el-GR" dirty="0"/>
              <a:t>΄</a:t>
            </a:r>
            <a:r>
              <a:rPr lang="ro-RO" dirty="0"/>
              <a:t>) 	</a:t>
            </a:r>
          </a:p>
          <a:p>
            <a:pPr marL="0" indent="0">
              <a:buNone/>
            </a:pPr>
            <a:r>
              <a:rPr lang="ro-RO" dirty="0"/>
              <a:t>				</a:t>
            </a:r>
          </a:p>
          <a:p>
            <a:pPr marL="0" indent="0">
              <a:buNone/>
            </a:pPr>
            <a:r>
              <a:rPr lang="ro-RO" dirty="0"/>
              <a:t>			γ(4), a constantă existentă</a:t>
            </a:r>
          </a:p>
          <a:p>
            <a:pPr marL="0" indent="0">
              <a:buNone/>
            </a:pPr>
            <a:r>
              <a:rPr lang="ro-RO" dirty="0"/>
              <a:t>		P(a,a)</a:t>
            </a:r>
          </a:p>
          <a:p>
            <a:pPr marL="0" indent="0">
              <a:buNone/>
            </a:pPr>
            <a:r>
              <a:rPr lang="ro-RO" dirty="0"/>
              <a:t>			</a:t>
            </a:r>
          </a:p>
          <a:p>
            <a:pPr marL="0" indent="0">
              <a:buNone/>
            </a:pPr>
            <a:r>
              <a:rPr lang="ro-RO" dirty="0"/>
              <a:t>	    </a:t>
            </a:r>
          </a:p>
          <a:p>
            <a:pPr marL="0" indent="0">
              <a:buNone/>
            </a:pPr>
            <a:r>
              <a:rPr lang="ro-RO" dirty="0"/>
              <a:t>	(</a:t>
            </a:r>
            <a:r>
              <a:rPr lang="ro-RO" strike="sngStrike" dirty="0"/>
              <a:t>V</a:t>
            </a:r>
            <a:r>
              <a:rPr lang="ro-RO" dirty="0"/>
              <a:t>y)(</a:t>
            </a:r>
            <a:r>
              <a:rPr lang="ro-RO" strike="sngStrike" dirty="0"/>
              <a:t>V</a:t>
            </a:r>
            <a:r>
              <a:rPr lang="ro-RO" dirty="0"/>
              <a:t>x)P(x,y</a:t>
            </a:r>
            <a:r>
              <a:rPr lang="en-US" dirty="0"/>
              <a:t>)(4</a:t>
            </a:r>
            <a:r>
              <a:rPr lang="el-GR" dirty="0"/>
              <a:t>΄</a:t>
            </a:r>
            <a:r>
              <a:rPr lang="en-US" dirty="0"/>
              <a:t>)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	     X ⃝</a:t>
            </a:r>
            <a:endParaRPr lang="en-US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			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9CF1DDF-C888-4BFF-9CC5-95AAB9EDB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5815" y="0"/>
            <a:ext cx="5971082" cy="6857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 sz="1400" dirty="0"/>
              <a:t>						</a:t>
            </a:r>
          </a:p>
          <a:p>
            <a:pPr marL="0" indent="0">
              <a:buNone/>
            </a:pPr>
            <a:r>
              <a:rPr lang="ro-RO" sz="1400" dirty="0"/>
              <a:t>					   </a:t>
            </a:r>
            <a:r>
              <a:rPr lang="en-US" sz="1400" dirty="0"/>
              <a:t>δ(</a:t>
            </a:r>
            <a:r>
              <a:rPr lang="ro-RO" sz="1400" dirty="0"/>
              <a:t>9</a:t>
            </a:r>
            <a:r>
              <a:rPr lang="en-US" sz="1400" dirty="0"/>
              <a:t>)</a:t>
            </a: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	   c constantă nou introdusă </a:t>
            </a:r>
          </a:p>
          <a:p>
            <a:pPr marL="0" indent="0">
              <a:buNone/>
            </a:pPr>
            <a:r>
              <a:rPr lang="ro-RO" sz="1400" dirty="0"/>
              <a:t>				    ⌐ P(b,c)</a:t>
            </a:r>
            <a:r>
              <a:rPr lang="en-US" sz="1400" dirty="0"/>
              <a:t> </a:t>
            </a:r>
            <a:endParaRPr lang="ro-RO" sz="1400" dirty="0"/>
          </a:p>
          <a:p>
            <a:pPr marL="0" indent="0">
              <a:buNone/>
            </a:pP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	   γ(7), b,c constante existente</a:t>
            </a:r>
          </a:p>
          <a:p>
            <a:pPr marL="0" indent="0">
              <a:buNone/>
            </a:pP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      (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400" dirty="0"/>
              <a:t>y)P(b,y)(10)</a:t>
            </a:r>
          </a:p>
          <a:p>
            <a:pPr marL="0" indent="0">
              <a:buNone/>
            </a:pPr>
            <a:endParaRPr lang="ro-RO" sz="1400" dirty="0"/>
          </a:p>
          <a:p>
            <a:pPr marL="0" indent="0">
              <a:buNone/>
            </a:pP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   (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400" dirty="0"/>
              <a:t>y)P(c,y) (11)</a:t>
            </a:r>
          </a:p>
          <a:p>
            <a:pPr marL="0" indent="0">
              <a:buNone/>
            </a:pP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</a:t>
            </a:r>
          </a:p>
          <a:p>
            <a:pPr marL="0" indent="0">
              <a:buNone/>
            </a:pPr>
            <a:r>
              <a:rPr lang="ro-RO" sz="1400" dirty="0"/>
              <a:t>			</a:t>
            </a:r>
            <a:r>
              <a:rPr lang="ro-RO" sz="1600" dirty="0"/>
              <a:t> 	</a:t>
            </a:r>
            <a:r>
              <a:rPr lang="ro-RO" sz="1400" dirty="0"/>
              <a:t>(</a:t>
            </a:r>
            <a:r>
              <a:rPr lang="ro-RO" sz="1400" strike="sngStrike" dirty="0"/>
              <a:t>V</a:t>
            </a:r>
            <a:r>
              <a:rPr lang="ro-RO" sz="1400" dirty="0"/>
              <a:t>x)(</a:t>
            </a:r>
            <a:r>
              <a:rPr lang="ro-RO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ꓱ</a:t>
            </a:r>
            <a:r>
              <a:rPr lang="ro-RO" sz="1400" dirty="0"/>
              <a:t>y)P(x,y)(7</a:t>
            </a:r>
            <a:r>
              <a:rPr lang="el-GR" sz="1400" dirty="0"/>
              <a:t>΄</a:t>
            </a:r>
            <a:r>
              <a:rPr lang="ro-RO" sz="1400" dirty="0"/>
              <a:t>)</a:t>
            </a:r>
          </a:p>
          <a:p>
            <a:pPr marL="0" indent="0">
              <a:buNone/>
            </a:pPr>
            <a:r>
              <a:rPr lang="ro-RO" sz="1400" dirty="0"/>
              <a:t>						</a:t>
            </a:r>
            <a:r>
              <a:rPr lang="en-US" sz="1400" dirty="0"/>
              <a:t>δ(</a:t>
            </a:r>
            <a:r>
              <a:rPr lang="ro-RO" sz="1400" dirty="0"/>
              <a:t>10</a:t>
            </a:r>
            <a:r>
              <a:rPr lang="en-US" sz="1400" dirty="0"/>
              <a:t>)</a:t>
            </a: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	   d constantă nou introdusă </a:t>
            </a:r>
          </a:p>
          <a:p>
            <a:pPr marL="0" indent="0">
              <a:buNone/>
            </a:pPr>
            <a:r>
              <a:rPr lang="ro-RO" sz="1400" dirty="0"/>
              <a:t>				    P(b,d)(10)</a:t>
            </a:r>
          </a:p>
          <a:p>
            <a:pPr marL="0" indent="0">
              <a:buNone/>
            </a:pPr>
            <a:r>
              <a:rPr lang="ro-RO" sz="1400" dirty="0"/>
              <a:t>						</a:t>
            </a:r>
            <a:r>
              <a:rPr lang="en-US" sz="1400" dirty="0"/>
              <a:t>δ(</a:t>
            </a:r>
            <a:r>
              <a:rPr lang="ro-RO" sz="1400" dirty="0"/>
              <a:t>11</a:t>
            </a:r>
            <a:r>
              <a:rPr lang="en-US" sz="1400" dirty="0"/>
              <a:t>)</a:t>
            </a:r>
            <a:endParaRPr lang="ro-RO" sz="1400" dirty="0"/>
          </a:p>
          <a:p>
            <a:pPr marL="0" indent="0">
              <a:buNone/>
            </a:pPr>
            <a:r>
              <a:rPr lang="ro-RO" sz="1400" dirty="0"/>
              <a:t>					   e constantă nou introdusă </a:t>
            </a:r>
          </a:p>
          <a:p>
            <a:pPr marL="0" indent="0">
              <a:buNone/>
            </a:pPr>
            <a:r>
              <a:rPr lang="ro-RO" sz="1400" dirty="0"/>
              <a:t>					 P(c,e)</a:t>
            </a:r>
          </a:p>
          <a:p>
            <a:pPr marL="0" indent="0">
              <a:buNone/>
            </a:pPr>
            <a:r>
              <a:rPr lang="ro-RO" sz="1400" dirty="0"/>
              <a:t>					</a:t>
            </a:r>
            <a:r>
              <a:rPr lang="ro-RO" sz="800" dirty="0"/>
              <a:t>   º  </a:t>
            </a:r>
            <a:r>
              <a:rPr lang="ro-RO" sz="2600" dirty="0"/>
              <a:t> ⃝</a:t>
            </a:r>
            <a:r>
              <a:rPr lang="ro-RO" sz="800" dirty="0"/>
              <a:t>				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D75361-FADB-4889-A89E-B32CB3975D80}"/>
              </a:ext>
            </a:extLst>
          </p:cNvPr>
          <p:cNvCxnSpPr>
            <a:cxnSpLocks/>
          </p:cNvCxnSpPr>
          <p:nvPr/>
        </p:nvCxnSpPr>
        <p:spPr>
          <a:xfrm>
            <a:off x="1327909" y="124286"/>
            <a:ext cx="0" cy="1014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433F05-18F5-4CD2-AF0C-265E505BA3FB}"/>
              </a:ext>
            </a:extLst>
          </p:cNvPr>
          <p:cNvCxnSpPr>
            <a:cxnSpLocks/>
          </p:cNvCxnSpPr>
          <p:nvPr/>
        </p:nvCxnSpPr>
        <p:spPr>
          <a:xfrm>
            <a:off x="1433026" y="1968421"/>
            <a:ext cx="0" cy="878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DBFE2E-B1C3-41B7-BE83-683BA65DF3C5}"/>
              </a:ext>
            </a:extLst>
          </p:cNvPr>
          <p:cNvCxnSpPr>
            <a:cxnSpLocks/>
          </p:cNvCxnSpPr>
          <p:nvPr/>
        </p:nvCxnSpPr>
        <p:spPr>
          <a:xfrm>
            <a:off x="1433026" y="3230907"/>
            <a:ext cx="0" cy="615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5E0709-2FCF-4235-8AB6-C00F60886EAA}"/>
              </a:ext>
            </a:extLst>
          </p:cNvPr>
          <p:cNvCxnSpPr>
            <a:cxnSpLocks/>
          </p:cNvCxnSpPr>
          <p:nvPr/>
        </p:nvCxnSpPr>
        <p:spPr>
          <a:xfrm flipH="1">
            <a:off x="1327907" y="4548824"/>
            <a:ext cx="6152" cy="514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AE8BCAE-A013-4EAF-9B90-D7776B289B5C}"/>
              </a:ext>
            </a:extLst>
          </p:cNvPr>
          <p:cNvSpPr/>
          <p:nvPr/>
        </p:nvSpPr>
        <p:spPr>
          <a:xfrm>
            <a:off x="964777" y="1277798"/>
            <a:ext cx="982933" cy="615167"/>
          </a:xfrm>
          <a:prstGeom prst="flowChartConnector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251E6CF2-39D8-4437-B2C3-25ED22CC503F}"/>
              </a:ext>
            </a:extLst>
          </p:cNvPr>
          <p:cNvSpPr/>
          <p:nvPr/>
        </p:nvSpPr>
        <p:spPr>
          <a:xfrm>
            <a:off x="836440" y="3922087"/>
            <a:ext cx="982933" cy="615167"/>
          </a:xfrm>
          <a:prstGeom prst="flowChartConnector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2BA5BC-E8B0-45EB-BA02-8CF821933758}"/>
              </a:ext>
            </a:extLst>
          </p:cNvPr>
          <p:cNvCxnSpPr>
            <a:cxnSpLocks/>
          </p:cNvCxnSpPr>
          <p:nvPr/>
        </p:nvCxnSpPr>
        <p:spPr>
          <a:xfrm>
            <a:off x="8600199" y="124286"/>
            <a:ext cx="0" cy="646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717623-FDB6-477B-9390-167430EA5783}"/>
              </a:ext>
            </a:extLst>
          </p:cNvPr>
          <p:cNvCxnSpPr>
            <a:cxnSpLocks/>
          </p:cNvCxnSpPr>
          <p:nvPr/>
        </p:nvCxnSpPr>
        <p:spPr>
          <a:xfrm>
            <a:off x="8600200" y="1464816"/>
            <a:ext cx="0" cy="516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B5B086-FDF3-48E9-B6FD-5087324FF34F}"/>
              </a:ext>
            </a:extLst>
          </p:cNvPr>
          <p:cNvCxnSpPr>
            <a:cxnSpLocks/>
          </p:cNvCxnSpPr>
          <p:nvPr/>
        </p:nvCxnSpPr>
        <p:spPr>
          <a:xfrm>
            <a:off x="8586023" y="2484870"/>
            <a:ext cx="0" cy="548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F38467-CFEC-442C-B77B-4E93484AF94F}"/>
              </a:ext>
            </a:extLst>
          </p:cNvPr>
          <p:cNvCxnSpPr>
            <a:cxnSpLocks/>
          </p:cNvCxnSpPr>
          <p:nvPr/>
        </p:nvCxnSpPr>
        <p:spPr>
          <a:xfrm>
            <a:off x="8617306" y="3373905"/>
            <a:ext cx="0" cy="548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4CB097-63E3-4800-B58E-3318EFA399A8}"/>
              </a:ext>
            </a:extLst>
          </p:cNvPr>
          <p:cNvCxnSpPr>
            <a:cxnSpLocks/>
          </p:cNvCxnSpPr>
          <p:nvPr/>
        </p:nvCxnSpPr>
        <p:spPr>
          <a:xfrm>
            <a:off x="8617306" y="4298259"/>
            <a:ext cx="0" cy="548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DF1903-B264-49F2-8E72-63E09D04F4EE}"/>
              </a:ext>
            </a:extLst>
          </p:cNvPr>
          <p:cNvCxnSpPr>
            <a:cxnSpLocks/>
          </p:cNvCxnSpPr>
          <p:nvPr/>
        </p:nvCxnSpPr>
        <p:spPr>
          <a:xfrm>
            <a:off x="8617306" y="5285546"/>
            <a:ext cx="0" cy="548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00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28270B-88DD-4EB2-9194-5CEBF1EB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A7FB-09BC-47E0-B259-2BFDFB4C8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A doua  ramură a tabelei este deschisă </a:t>
            </a:r>
            <a:r>
              <a:rPr lang="ro-RO" dirty="0">
                <a:sym typeface="Wingdings" panose="05000000000000000000" pitchFamily="2" charset="2"/>
              </a:rPr>
              <a:t></a:t>
            </a:r>
            <a:endParaRPr lang="ro-RO" dirty="0"/>
          </a:p>
          <a:p>
            <a:pPr marL="0" indent="0">
              <a:buNone/>
            </a:pPr>
            <a:r>
              <a:rPr lang="ro-RO" dirty="0">
                <a:sym typeface="Wingdings" panose="05000000000000000000" pitchFamily="2" charset="2"/>
              </a:rPr>
              <a:t>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Tabela</a:t>
            </a:r>
            <a:r>
              <a:rPr lang="en-GB" dirty="0">
                <a:sym typeface="Wingdings" panose="05000000000000000000" pitchFamily="2" charset="2"/>
              </a:rPr>
              <a:t> semantic</a:t>
            </a:r>
            <a:r>
              <a:rPr lang="ro-RO">
                <a:sym typeface="Wingdings" panose="05000000000000000000" pitchFamily="2" charset="2"/>
              </a:rPr>
              <a:t>ă corespunzătoare </a:t>
            </a:r>
            <a:r>
              <a:rPr lang="ro-RO" dirty="0">
                <a:sym typeface="Wingdings" panose="05000000000000000000" pitchFamily="2" charset="2"/>
              </a:rPr>
              <a:t>formulei </a:t>
            </a:r>
            <a:r>
              <a:rPr lang="ro-RO" dirty="0"/>
              <a:t>⌐U este deschisă </a:t>
            </a:r>
            <a:r>
              <a:rPr lang="ro-RO" dirty="0">
                <a:sym typeface="Wingdings" panose="05000000000000000000" pitchFamily="2" charset="2"/>
              </a:rPr>
              <a:t></a:t>
            </a:r>
            <a:endParaRPr lang="ro-RO" dirty="0"/>
          </a:p>
          <a:p>
            <a:pPr marL="0" indent="0">
              <a:buNone/>
            </a:pPr>
            <a:r>
              <a:rPr lang="ro-RO" dirty="0">
                <a:sym typeface="Wingdings" panose="05000000000000000000" pitchFamily="2" charset="2"/>
              </a:rPr>
              <a:t>  </a:t>
            </a:r>
            <a:r>
              <a:rPr lang="ro-RO" dirty="0"/>
              <a:t>⌐U consitentă </a:t>
            </a:r>
            <a:r>
              <a:rPr lang="ro-RO" dirty="0">
                <a:sym typeface="Wingdings" panose="05000000000000000000" pitchFamily="2" charset="2"/>
              </a:rPr>
              <a:t></a:t>
            </a:r>
            <a:endParaRPr lang="ro-RO" dirty="0"/>
          </a:p>
          <a:p>
            <a:pPr marL="0" indent="0">
              <a:buNone/>
            </a:pPr>
            <a:r>
              <a:rPr lang="ro-RO" dirty="0">
                <a:sym typeface="Wingdings" panose="05000000000000000000" pitchFamily="2" charset="2"/>
              </a:rPr>
              <a:t> U  nu este teoremă (tautologie)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011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872F0A23126944A1115D8B536C9873" ma:contentTypeVersion="8" ma:contentTypeDescription="Create a new document." ma:contentTypeScope="" ma:versionID="27b10bd7600803a28884ae2d243b3d2f">
  <xsd:schema xmlns:xsd="http://www.w3.org/2001/XMLSchema" xmlns:xs="http://www.w3.org/2001/XMLSchema" xmlns:p="http://schemas.microsoft.com/office/2006/metadata/properties" xmlns:ns2="0c2a090c-80d2-4674-aab9-e2f91f7b1abc" targetNamespace="http://schemas.microsoft.com/office/2006/metadata/properties" ma:root="true" ma:fieldsID="5970c49522e1117b31f99294ce77028f" ns2:_="">
    <xsd:import namespace="0c2a090c-80d2-4674-aab9-e2f91f7b1a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2a090c-80d2-4674-aab9-e2f91f7b1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BF096F-9127-4537-9F7C-7F18BC4251B8}"/>
</file>

<file path=customXml/itemProps2.xml><?xml version="1.0" encoding="utf-8"?>
<ds:datastoreItem xmlns:ds="http://schemas.openxmlformats.org/officeDocument/2006/customXml" ds:itemID="{8664996B-B952-4890-9424-65555979407E}"/>
</file>

<file path=customXml/itemProps3.xml><?xml version="1.0" encoding="utf-8"?>
<ds:datastoreItem xmlns:ds="http://schemas.openxmlformats.org/officeDocument/2006/customXml" ds:itemID="{B61F5941-D3AE-4193-9E5E-D20B65F403F7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915</TotalTime>
  <Words>807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Ion</vt:lpstr>
      <vt:lpstr>Temă seminar</vt:lpstr>
      <vt:lpstr>9.2.14.5</vt:lpstr>
      <vt:lpstr> ⌐ ((⌐(Vy)(Vx)P(x,y)V (Vx)(ꓱy)P(x,y))л(⌐(Vx)(ꓱy)P(x,y)V(Vy)(Vx)P(x,y))) (1)               β(1)    </vt:lpstr>
      <vt:lpstr>PowerPoint Presentation</vt:lpstr>
      <vt:lpstr>Concluzie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Temă seminar</dc:title>
  <dc:creator>miron morati</dc:creator>
  <cp:lastModifiedBy>miron morati</cp:lastModifiedBy>
  <cp:revision>30</cp:revision>
  <dcterms:created xsi:type="dcterms:W3CDTF">2020-11-28T16:20:22Z</dcterms:created>
  <dcterms:modified xsi:type="dcterms:W3CDTF">2020-12-03T17:11:00Z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0x01010081872F0A23126944A1115D8B536C9873</vt:lpwstr>
  </property>
</Properties>
</file>